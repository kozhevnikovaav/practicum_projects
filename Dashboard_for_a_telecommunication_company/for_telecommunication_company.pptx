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3"/>
  </p:notesMasterIdLst>
  <p:sldIdLst>
    <p:sldId id="256" r:id="rId2"/>
    <p:sldId id="276" r:id="rId3"/>
    <p:sldId id="277" r:id="rId4"/>
    <p:sldId id="257" r:id="rId5"/>
    <p:sldId id="258" r:id="rId6"/>
    <p:sldId id="278" r:id="rId7"/>
    <p:sldId id="259" r:id="rId8"/>
    <p:sldId id="261" r:id="rId9"/>
    <p:sldId id="262" r:id="rId10"/>
    <p:sldId id="279" r:id="rId11"/>
    <p:sldId id="27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CFC09C-187A-4817-8A85-F40B0514128F}" type="datetimeFigureOut">
              <a:rPr lang="ru-RU" smtClean="0"/>
              <a:t>23.09.2024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D82F2C-C9A6-4974-A73F-B1E2973B1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6508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20.08.2024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автор: Кожевникова А.В.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B249B-23D7-433A-BA27-E2EB8880D99B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734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20.08.2024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автор: Кожевникова А.В.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B249B-23D7-433A-BA27-E2EB8880D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560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20.08.2024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автор: Кожевникова А.В.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B249B-23D7-433A-BA27-E2EB8880D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0706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20.08.2024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автор: Кожевникова А.В.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B249B-23D7-433A-BA27-E2EB8880D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80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20.08.2024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автор: Кожевникова А.В.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B249B-23D7-433A-BA27-E2EB8880D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2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20.08.2024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автор: Кожевникова А.В.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B249B-23D7-433A-BA27-E2EB8880D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907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20.08.2024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автор: Кожевникова А.В.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B249B-23D7-433A-BA27-E2EB8880D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719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20.08.2024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автор: Кожевникова А.В.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B249B-23D7-433A-BA27-E2EB8880D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468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20.08.2024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автор: Кожевникова А.В.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B249B-23D7-433A-BA27-E2EB8880D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5707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20.08.2024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автор: Кожевникова А.В.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B249B-23D7-433A-BA27-E2EB8880D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1051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20.08.2024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автор: Кожевникова А.В.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B249B-23D7-433A-BA27-E2EB8880D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835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20.08.2024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автор: Кожевникова А.В.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B249B-23D7-433A-BA27-E2EB8880D99B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3180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20.08.2024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автор: Кожевникова А.В.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B249B-23D7-433A-BA27-E2EB8880D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5726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20.08.2024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автор: Кожевникова А.В.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B249B-23D7-433A-BA27-E2EB8880D99B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55494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20.08.2024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автор: Кожевникова А.В.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B249B-23D7-433A-BA27-E2EB8880D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2437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20.08.2024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автор: Кожевникова А.В.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B249B-23D7-433A-BA27-E2EB8880D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7152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20.08.2024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автор: Кожевникова А.В.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B249B-23D7-433A-BA27-E2EB8880D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327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ru-RU"/>
              <a:t>20.08.2024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ru-RU"/>
              <a:t>автор: Кожевникова А.В.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63B249B-23D7-433A-BA27-E2EB8880D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42743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firma_cool@Yandex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09443-09A3-4DF9-B8B7-7C5DDAFED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2323" y="1670812"/>
            <a:ext cx="10137531" cy="3516376"/>
          </a:xfrm>
        </p:spPr>
        <p:txBody>
          <a:bodyPr>
            <a:noAutofit/>
          </a:bodyPr>
          <a:lstStyle/>
          <a:p>
            <a:r>
              <a:rPr lang="ru-RU" sz="6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уровня потребительской лояльности, среди клиентов </a:t>
            </a:r>
            <a:endParaRPr lang="ru-RU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0778055-152B-48A4-BB18-F98E8DDF4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87188"/>
            <a:ext cx="9144000" cy="613346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для </a:t>
            </a:r>
            <a:r>
              <a:rPr lang="ru-RU" dirty="0" smtClean="0">
                <a:solidFill>
                  <a:schemeClr val="tx1"/>
                </a:solidFill>
              </a:rPr>
              <a:t>телекоммуникационной компании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3125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FB0286F-EDD2-47D7-B5BE-019D271A3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905256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Краткое описание: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E1CF6DD-27EE-4824-94F5-C09D72509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746504"/>
            <a:ext cx="10798541" cy="4233672"/>
          </a:xfrm>
        </p:spPr>
        <p:txBody>
          <a:bodyPr/>
          <a:lstStyle/>
          <a:p>
            <a:pPr algn="just"/>
            <a:r>
              <a:rPr lang="ru-RU" dirty="0">
                <a:solidFill>
                  <a:schemeClr val="bg1"/>
                </a:solidFill>
              </a:rPr>
              <a:t>у компании стояла задача - определить текущий уровень потребительской лояльности, или NPS, сред клиентов России. Для этого клиентам задавали классический вопрос: "Оцените по шкале от 1 до 10 вероятность того, что вы порекомендуете компанию друзьям и знакомым". Компания провела опрос, и им требуется подготовить </a:t>
            </a:r>
            <a:r>
              <a:rPr lang="ru-RU" dirty="0" err="1">
                <a:solidFill>
                  <a:schemeClr val="bg1"/>
                </a:solidFill>
              </a:rPr>
              <a:t>дашборд</a:t>
            </a:r>
            <a:r>
              <a:rPr lang="ru-RU" dirty="0">
                <a:solidFill>
                  <a:schemeClr val="bg1"/>
                </a:solidFill>
              </a:rPr>
              <a:t> с его итогами. Большую базу данных они разворачивать не стали и выгрузили данные в </a:t>
            </a:r>
            <a:r>
              <a:rPr lang="ru-RU" dirty="0" err="1">
                <a:solidFill>
                  <a:schemeClr val="bg1"/>
                </a:solidFill>
              </a:rPr>
              <a:t>SQLite</a:t>
            </a:r>
            <a:r>
              <a:rPr lang="ru-RU" dirty="0">
                <a:solidFill>
                  <a:schemeClr val="bg1"/>
                </a:solidFill>
              </a:rPr>
              <a:t>. Чтобы оценить результаты опросы, компания делит оценки клиентов на 3 группы: от 9 до 10 баллов - "сторонники"; от 7 до 8 баллов - "нейтралы"; от 0 до 6 баллов - "критики". Итоговое значение NPS </a:t>
            </a:r>
            <a:r>
              <a:rPr lang="ru-RU" dirty="0" err="1">
                <a:solidFill>
                  <a:schemeClr val="bg1"/>
                </a:solidFill>
              </a:rPr>
              <a:t>расчитывает</a:t>
            </a:r>
            <a:r>
              <a:rPr lang="ru-RU" dirty="0">
                <a:solidFill>
                  <a:schemeClr val="bg1"/>
                </a:solidFill>
              </a:rPr>
              <a:t> по формуле: % "сторонников" - % "критиков". Показатель NPS варьируется от -100% (когда все клиенты "критики") до 100% (когда все клиенты лояльны к сервису).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58C715-E030-4319-B7AF-A684BE761D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91800" y="6483096"/>
            <a:ext cx="1600200" cy="365125"/>
          </a:xfrm>
        </p:spPr>
        <p:txBody>
          <a:bodyPr/>
          <a:lstStyle/>
          <a:p>
            <a:r>
              <a:rPr lang="ru-RU" sz="14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21.09.2024 </a:t>
            </a:r>
            <a:r>
              <a:rPr lang="ru-RU" sz="1400" dirty="0">
                <a:solidFill>
                  <a:schemeClr val="tx1"/>
                </a:solidFill>
                <a:latin typeface="Arial Black" panose="020B0A04020102020204" pitchFamily="34" charset="0"/>
              </a:rPr>
              <a:t>г.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131863-2DE1-4361-AAA5-AFD485566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83096"/>
            <a:ext cx="7543800" cy="365125"/>
          </a:xfrm>
        </p:spPr>
        <p:txBody>
          <a:bodyPr/>
          <a:lstStyle/>
          <a:p>
            <a:r>
              <a:rPr lang="ru-RU" sz="1400" dirty="0">
                <a:solidFill>
                  <a:schemeClr val="tx1"/>
                </a:solidFill>
                <a:latin typeface="Arial Black" panose="020B0A04020102020204" pitchFamily="34" charset="0"/>
              </a:rPr>
              <a:t>автор: Кожевникова А.В.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7EE6F6-8183-4324-94BD-2013B73E5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755" y="-14288"/>
            <a:ext cx="1142245" cy="669925"/>
          </a:xfrm>
        </p:spPr>
        <p:txBody>
          <a:bodyPr/>
          <a:lstStyle/>
          <a:p>
            <a:fld id="{F63B249B-23D7-433A-BA27-E2EB8880D99B}" type="slidenum">
              <a:rPr lang="ru-RU" smtClean="0">
                <a:solidFill>
                  <a:schemeClr val="tx1"/>
                </a:solidFill>
                <a:latin typeface="Arial Black" panose="020B0A04020102020204" pitchFamily="34" charset="0"/>
              </a:rPr>
              <a:t>2</a:t>
            </a:fld>
            <a:endParaRPr lang="ru-RU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213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34436C-CF30-4280-88D4-BF7F50C0C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73221"/>
            <a:ext cx="10058400" cy="822960"/>
          </a:xfrm>
        </p:spPr>
        <p:txBody>
          <a:bodyPr/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исследования: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16CE25-1683-45D9-9B16-C48DC65EE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2" y="1362456"/>
            <a:ext cx="10846372" cy="463194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уровень потребительской лояльности среди клиентов России 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D2025A-1BE1-409B-8DF2-9B652A266F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91800" y="6492875"/>
            <a:ext cx="1600200" cy="365125"/>
          </a:xfrm>
        </p:spPr>
        <p:txBody>
          <a:bodyPr/>
          <a:lstStyle/>
          <a:p>
            <a:r>
              <a:rPr lang="ru-RU" sz="14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21.09.2024 </a:t>
            </a:r>
            <a:r>
              <a:rPr lang="ru-RU" sz="1400" dirty="0">
                <a:solidFill>
                  <a:schemeClr val="tx1"/>
                </a:solidFill>
                <a:latin typeface="Arial Black" panose="020B0A04020102020204" pitchFamily="34" charset="0"/>
              </a:rPr>
              <a:t>г.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3803B8-686E-4E68-AD2C-059CF66CC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543800" cy="365125"/>
          </a:xfrm>
        </p:spPr>
        <p:txBody>
          <a:bodyPr/>
          <a:lstStyle/>
          <a:p>
            <a:r>
              <a:rPr lang="ru-RU" sz="1400" dirty="0">
                <a:solidFill>
                  <a:schemeClr val="tx1"/>
                </a:solidFill>
                <a:latin typeface="Arial Black" panose="020B0A04020102020204" pitchFamily="34" charset="0"/>
              </a:rPr>
              <a:t>автор: Кожевникова А.В.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A3A8FD-47DA-4251-8C3C-F1A01561C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755" y="-14288"/>
            <a:ext cx="1142245" cy="669925"/>
          </a:xfrm>
        </p:spPr>
        <p:txBody>
          <a:bodyPr/>
          <a:lstStyle/>
          <a:p>
            <a:fld id="{F63B249B-23D7-433A-BA27-E2EB8880D99B}" type="slidenum">
              <a:rPr lang="ru-RU" smtClean="0">
                <a:solidFill>
                  <a:schemeClr val="tx1"/>
                </a:solidFill>
                <a:latin typeface="Arial Black" panose="020B0A04020102020204" pitchFamily="34" charset="0"/>
              </a:rPr>
              <a:t>3</a:t>
            </a:fld>
            <a:endParaRPr lang="ru-RU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66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6B73222-7F95-4B3A-9CF9-E36D34E13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306719"/>
            <a:ext cx="1164336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Аудитория</a:t>
            </a:r>
            <a:r>
              <a:rPr lang="ru-RU" b="1" dirty="0"/>
              <a:t/>
            </a:r>
            <a:br>
              <a:rPr lang="ru-RU" b="1" dirty="0"/>
            </a:br>
            <a:endParaRPr lang="ru-RU" b="1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EA2163C-EAED-495A-9767-F495CC5A1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8461" y="1436266"/>
            <a:ext cx="6858834" cy="4733058"/>
          </a:xfrm>
        </p:spPr>
        <p:txBody>
          <a:bodyPr>
            <a:normAutofit/>
          </a:bodyPr>
          <a:lstStyle/>
          <a:p>
            <a:pPr marL="514350" indent="-514350" algn="just">
              <a:buAutoNum type="arabicPeriod"/>
            </a:pPr>
            <a:r>
              <a:rPr lang="ru-RU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70% аудитории приходится на пользователей до от 25 до 45 лет.</a:t>
            </a:r>
          </a:p>
          <a:p>
            <a:pPr marL="514350" indent="-514350" algn="just">
              <a:buAutoNum type="arabicPeriod"/>
            </a:pPr>
            <a:endParaRPr lang="ru-R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AutoNum type="arabicPeriod"/>
            </a:pPr>
            <a:endParaRPr lang="ru-RU" sz="28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AutoNum type="arabicPeriod"/>
            </a:pPr>
            <a:r>
              <a:rPr lang="ru-RU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Мужчины и женщины распределены одинаковы во всех возрастных группах, за исключением возрастной категории 55-64 и 65+, где наблюдается небольшой перекос в сторону женщин.</a:t>
            </a:r>
            <a:endParaRPr lang="ru-R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2D94743F-3514-4D40-99E1-EC8D54273A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91800" y="6492875"/>
            <a:ext cx="1600200" cy="365125"/>
          </a:xfrm>
        </p:spPr>
        <p:txBody>
          <a:bodyPr/>
          <a:lstStyle/>
          <a:p>
            <a:r>
              <a:rPr lang="ru-RU" sz="14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21.09.2024 </a:t>
            </a:r>
            <a:r>
              <a:rPr lang="ru-RU" sz="1400" dirty="0">
                <a:solidFill>
                  <a:schemeClr val="tx1"/>
                </a:solidFill>
                <a:latin typeface="Arial Black" panose="020B0A04020102020204" pitchFamily="34" charset="0"/>
              </a:rPr>
              <a:t>г.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5691AB9-7FF7-4354-A1E7-61D83E9E0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0904"/>
            <a:ext cx="7543800" cy="365125"/>
          </a:xfrm>
        </p:spPr>
        <p:txBody>
          <a:bodyPr/>
          <a:lstStyle/>
          <a:p>
            <a:r>
              <a:rPr lang="ru-RU" sz="1400" dirty="0">
                <a:solidFill>
                  <a:schemeClr val="tx1"/>
                </a:solidFill>
                <a:latin typeface="Arial Black" panose="020B0A04020102020204" pitchFamily="34" charset="0"/>
              </a:rPr>
              <a:t>автор: Кожевникова А.В.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C1691C9-9AEC-4B7A-A699-20E7ECBA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755" y="-3378"/>
            <a:ext cx="1142245" cy="669925"/>
          </a:xfrm>
        </p:spPr>
        <p:txBody>
          <a:bodyPr/>
          <a:lstStyle/>
          <a:p>
            <a:fld id="{F63B249B-23D7-433A-BA27-E2EB8880D99B}" type="slidenum">
              <a:rPr lang="ru-RU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 l="29610" t="22735" r="42461" b="19418"/>
          <a:stretch/>
        </p:blipFill>
        <p:spPr>
          <a:xfrm>
            <a:off x="162274" y="1139620"/>
            <a:ext cx="4575802" cy="533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999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F989BE4-1BC2-4D8A-8384-C10CE86D0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91800" y="6492874"/>
            <a:ext cx="1600200" cy="365125"/>
          </a:xfrm>
        </p:spPr>
        <p:txBody>
          <a:bodyPr/>
          <a:lstStyle/>
          <a:p>
            <a:r>
              <a:rPr lang="ru-RU" sz="14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21.09.2024 </a:t>
            </a:r>
            <a:r>
              <a:rPr lang="ru-RU" sz="1400" dirty="0">
                <a:solidFill>
                  <a:schemeClr val="tx1"/>
                </a:solidFill>
                <a:latin typeface="Arial Black" panose="020B0A04020102020204" pitchFamily="34" charset="0"/>
              </a:rPr>
              <a:t>г.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8B41E9C-846C-4C75-93C7-8DF611799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543800" cy="365125"/>
          </a:xfrm>
        </p:spPr>
        <p:txBody>
          <a:bodyPr/>
          <a:lstStyle/>
          <a:p>
            <a:r>
              <a:rPr lang="ru-RU" sz="1400" dirty="0">
                <a:solidFill>
                  <a:schemeClr val="tx1"/>
                </a:solidFill>
                <a:latin typeface="Arial Black" panose="020B0A04020102020204" pitchFamily="34" charset="0"/>
              </a:rPr>
              <a:t>автор: Кожевникова А.В.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88A0FE-D249-416E-95F0-C197AC67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755" y="0"/>
            <a:ext cx="1142245" cy="669925"/>
          </a:xfrm>
        </p:spPr>
        <p:txBody>
          <a:bodyPr/>
          <a:lstStyle/>
          <a:p>
            <a:fld id="{F63B249B-23D7-433A-BA27-E2EB8880D99B}" type="slidenum">
              <a:rPr lang="ru-RU" smtClean="0">
                <a:solidFill>
                  <a:schemeClr val="tx1"/>
                </a:solidFill>
                <a:latin typeface="Arial Black" panose="020B0A04020102020204" pitchFamily="34" charset="0"/>
              </a:rPr>
              <a:t>5</a:t>
            </a:fld>
            <a:endParaRPr lang="ru-RU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Заголовок 3">
            <a:extLst>
              <a:ext uri="{FF2B5EF4-FFF2-40B4-BE49-F238E27FC236}">
                <a16:creationId xmlns:a16="http://schemas.microsoft.com/office/drawing/2014/main" id="{36B73222-7F95-4B3A-9CF9-E36D34E131A0}"/>
              </a:ext>
            </a:extLst>
          </p:cNvPr>
          <p:cNvSpPr txBox="1">
            <a:spLocks/>
          </p:cNvSpPr>
          <p:nvPr/>
        </p:nvSpPr>
        <p:spPr>
          <a:xfrm>
            <a:off x="274320" y="306719"/>
            <a:ext cx="11643360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Аудитория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b="1" dirty="0"/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0EA2163C-EAED-495A-9767-F495CC5A165F}"/>
              </a:ext>
            </a:extLst>
          </p:cNvPr>
          <p:cNvSpPr txBox="1">
            <a:spLocks/>
          </p:cNvSpPr>
          <p:nvPr/>
        </p:nvSpPr>
        <p:spPr>
          <a:xfrm>
            <a:off x="274320" y="1139621"/>
            <a:ext cx="11726032" cy="5353253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«Старички» преобладают над новыми пользователями: 83% </a:t>
            </a:r>
            <a:r>
              <a:rPr lang="en-US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</a:t>
            </a:r>
            <a:r>
              <a:rPr lang="ru-RU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17%</a:t>
            </a:r>
          </a:p>
          <a:p>
            <a:pPr marL="514350" indent="-514350" algn="just">
              <a:buFont typeface="Wingdings 3" panose="05040102010807070707" pitchFamily="18" charset="2"/>
              <a:buAutoNum type="arabicPeriod"/>
            </a:pPr>
            <a:endParaRPr lang="ru-RU" sz="28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 3" panose="05040102010807070707" pitchFamily="18" charset="2"/>
              <a:buAutoNum type="arabicPeriod"/>
            </a:pPr>
            <a:endParaRPr lang="ru-RU" sz="28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l="58194" t="37885" r="13403" b="49498"/>
          <a:stretch/>
        </p:blipFill>
        <p:spPr>
          <a:xfrm>
            <a:off x="1722929" y="2519523"/>
            <a:ext cx="8617187" cy="21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332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10591800" y="6492875"/>
            <a:ext cx="1600200" cy="365125"/>
          </a:xfrm>
        </p:spPr>
        <p:txBody>
          <a:bodyPr/>
          <a:lstStyle/>
          <a:p>
            <a:r>
              <a:rPr lang="ru-RU" sz="1400" dirty="0">
                <a:solidFill>
                  <a:schemeClr val="tx1"/>
                </a:solidFill>
                <a:latin typeface="Arial Black" panose="020B0A04020102020204" pitchFamily="34" charset="0"/>
              </a:rPr>
              <a:t>21.09.2024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0" y="6471138"/>
            <a:ext cx="7543800" cy="365125"/>
          </a:xfrm>
        </p:spPr>
        <p:txBody>
          <a:bodyPr/>
          <a:lstStyle/>
          <a:p>
            <a:r>
              <a:rPr lang="ru-RU" sz="1400" dirty="0">
                <a:solidFill>
                  <a:schemeClr val="tx1"/>
                </a:solidFill>
                <a:latin typeface="Arial Black" panose="020B0A04020102020204" pitchFamily="34" charset="0"/>
              </a:rPr>
              <a:t>автор: Кожевникова А.В.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1002863" y="0"/>
            <a:ext cx="1142245" cy="669925"/>
          </a:xfrm>
        </p:spPr>
        <p:txBody>
          <a:bodyPr/>
          <a:lstStyle/>
          <a:p>
            <a:endParaRPr lang="en-US" dirty="0" smtClean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fld id="{F63B249B-23D7-433A-BA27-E2EB8880D99B}" type="slidenum">
              <a:rPr lang="ru-RU" smtClean="0">
                <a:solidFill>
                  <a:schemeClr val="tx1"/>
                </a:solidFill>
                <a:latin typeface="Arial Black" panose="020B0A04020102020204" pitchFamily="34" charset="0"/>
              </a:rPr>
              <a:t>6</a:t>
            </a:fld>
            <a:endParaRPr lang="ru-RU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08" t="50106" r="12778" b="11376"/>
          <a:stretch/>
        </p:blipFill>
        <p:spPr>
          <a:xfrm>
            <a:off x="672306" y="1229345"/>
            <a:ext cx="10847387" cy="2741951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672306" y="4731435"/>
            <a:ext cx="1084738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Самые активные пользователи из г. Москвы, более 65.000 человек (13% от общего количества)</a:t>
            </a:r>
          </a:p>
        </p:txBody>
      </p:sp>
      <p:sp>
        <p:nvSpPr>
          <p:cNvPr id="9" name="Заголовок 3">
            <a:extLst>
              <a:ext uri="{FF2B5EF4-FFF2-40B4-BE49-F238E27FC236}">
                <a16:creationId xmlns:a16="http://schemas.microsoft.com/office/drawing/2014/main" id="{36B73222-7F95-4B3A-9CF9-E36D34E131A0}"/>
              </a:ext>
            </a:extLst>
          </p:cNvPr>
          <p:cNvSpPr txBox="1">
            <a:spLocks/>
          </p:cNvSpPr>
          <p:nvPr/>
        </p:nvSpPr>
        <p:spPr>
          <a:xfrm>
            <a:off x="274320" y="306719"/>
            <a:ext cx="11643360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Аудитория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864411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C755CC3-069B-4C7F-BC2B-0B7DEED966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90419" y="6473952"/>
            <a:ext cx="1600200" cy="365125"/>
          </a:xfrm>
        </p:spPr>
        <p:txBody>
          <a:bodyPr/>
          <a:lstStyle/>
          <a:p>
            <a:r>
              <a:rPr lang="ru-RU" sz="14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21.09.2024 </a:t>
            </a:r>
            <a:r>
              <a:rPr lang="ru-RU" sz="1400" dirty="0">
                <a:solidFill>
                  <a:schemeClr val="tx1"/>
                </a:solidFill>
                <a:latin typeface="Arial Black" panose="020B0A04020102020204" pitchFamily="34" charset="0"/>
              </a:rPr>
              <a:t>г.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3602417-B180-4255-AE61-51B3DA689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952"/>
            <a:ext cx="7543800" cy="365125"/>
          </a:xfrm>
        </p:spPr>
        <p:txBody>
          <a:bodyPr/>
          <a:lstStyle/>
          <a:p>
            <a:r>
              <a:rPr lang="ru-RU" sz="1400" dirty="0">
                <a:solidFill>
                  <a:schemeClr val="tx1"/>
                </a:solidFill>
                <a:latin typeface="Arial Black" panose="020B0A04020102020204" pitchFamily="34" charset="0"/>
              </a:rPr>
              <a:t>автор: Кожевникова А.В.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E4A0A4-525F-4364-80B7-A073954A8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8374" y="0"/>
            <a:ext cx="1142245" cy="669925"/>
          </a:xfrm>
        </p:spPr>
        <p:txBody>
          <a:bodyPr/>
          <a:lstStyle/>
          <a:p>
            <a:fld id="{F63B249B-23D7-433A-BA27-E2EB8880D99B}" type="slidenum">
              <a:rPr lang="ru-RU" smtClean="0">
                <a:solidFill>
                  <a:schemeClr val="tx1"/>
                </a:solidFill>
                <a:latin typeface="Arial Black" panose="020B0A04020102020204" pitchFamily="34" charset="0"/>
              </a:rPr>
              <a:t>7</a:t>
            </a:fld>
            <a:endParaRPr lang="ru-RU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Заголовок 3">
            <a:extLst>
              <a:ext uri="{FF2B5EF4-FFF2-40B4-BE49-F238E27FC236}">
                <a16:creationId xmlns:a16="http://schemas.microsoft.com/office/drawing/2014/main" id="{36B73222-7F95-4B3A-9CF9-E36D34E131A0}"/>
              </a:ext>
            </a:extLst>
          </p:cNvPr>
          <p:cNvSpPr txBox="1">
            <a:spLocks/>
          </p:cNvSpPr>
          <p:nvPr/>
        </p:nvSpPr>
        <p:spPr>
          <a:xfrm>
            <a:off x="274320" y="306719"/>
            <a:ext cx="11643360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лояльности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b="1" dirty="0"/>
          </a:p>
        </p:txBody>
      </p:sp>
      <p:pic>
        <p:nvPicPr>
          <p:cNvPr id="9" name="Объект 8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91" t="25249" r="1180" b="12933"/>
          <a:stretch/>
        </p:blipFill>
        <p:spPr>
          <a:xfrm>
            <a:off x="117993" y="1101191"/>
            <a:ext cx="4825218" cy="5372761"/>
          </a:xfrm>
        </p:spPr>
      </p:pic>
      <p:sp>
        <p:nvSpPr>
          <p:cNvPr id="11" name="Текст 5">
            <a:extLst>
              <a:ext uri="{FF2B5EF4-FFF2-40B4-BE49-F238E27FC236}">
                <a16:creationId xmlns:a16="http://schemas.microsoft.com/office/drawing/2014/main" id="{0EA2163C-EAED-495A-9767-F495CC5A165F}"/>
              </a:ext>
            </a:extLst>
          </p:cNvPr>
          <p:cNvSpPr txBox="1">
            <a:spLocks/>
          </p:cNvSpPr>
          <p:nvPr/>
        </p:nvSpPr>
        <p:spPr>
          <a:xfrm>
            <a:off x="5061204" y="1120699"/>
            <a:ext cx="7063546" cy="5353253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514350" indent="-514350" algn="just">
              <a:buFont typeface="+mj-lt"/>
              <a:buAutoNum type="arabicPeriod"/>
            </a:pPr>
            <a:r>
              <a:rPr lang="ru-RU" sz="241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Наиболее </a:t>
            </a:r>
            <a:r>
              <a:rPr lang="ru-RU" sz="241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лояльные пользователи находятся в диапазоне возраста от </a:t>
            </a:r>
            <a:r>
              <a:rPr lang="ru-RU" sz="241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 </a:t>
            </a:r>
            <a:r>
              <a:rPr lang="ru-RU" sz="241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лет до 54.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41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то время как наименее лояльные пользователи находятся в возрастном диапазоне 16-24 и 66</a:t>
            </a:r>
            <a:r>
              <a:rPr lang="ru-RU" sz="241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41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Видимо старые и молодые пользователи менее активно пользуются услугами заказчика, поэтому не являются сторонниками.</a:t>
            </a:r>
            <a:endParaRPr lang="ru-RU" sz="241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endParaRPr lang="ru-RU" sz="28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66826" t="62545" r="5794" b="26559"/>
          <a:stretch/>
        </p:blipFill>
        <p:spPr>
          <a:xfrm>
            <a:off x="5161614" y="4396193"/>
            <a:ext cx="6862726" cy="207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200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C70C4A8A-2950-4D0A-B454-FD00FACE4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9036" y="3690708"/>
            <a:ext cx="10853928" cy="1303760"/>
          </a:xfrm>
        </p:spPr>
        <p:txBody>
          <a:bodyPr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Общий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NPS</a:t>
            </a:r>
            <a:r>
              <a:rPr lang="ru-RU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всех опрошенных пользователей составляет 22%</a:t>
            </a:r>
            <a:endParaRPr lang="en-US" sz="24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проводилось по 501.152 пользователям)</a:t>
            </a:r>
            <a:endParaRPr lang="en-US" sz="24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B6446FE-0D84-4CA0-9F39-B42B7D1F32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52176" y="6492241"/>
            <a:ext cx="1600200" cy="365125"/>
          </a:xfrm>
        </p:spPr>
        <p:txBody>
          <a:bodyPr/>
          <a:lstStyle/>
          <a:p>
            <a:r>
              <a:rPr lang="ru-RU" sz="14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21.09.2024 </a:t>
            </a:r>
            <a:r>
              <a:rPr lang="ru-RU" sz="1400" dirty="0">
                <a:solidFill>
                  <a:schemeClr val="tx1"/>
                </a:solidFill>
                <a:latin typeface="Arial Black" panose="020B0A04020102020204" pitchFamily="34" charset="0"/>
              </a:rPr>
              <a:t>г.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9C176F-6513-4830-9358-77D505071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952"/>
            <a:ext cx="7543800" cy="365125"/>
          </a:xfrm>
        </p:spPr>
        <p:txBody>
          <a:bodyPr/>
          <a:lstStyle/>
          <a:p>
            <a:r>
              <a:rPr lang="ru-RU" sz="1400" dirty="0">
                <a:solidFill>
                  <a:schemeClr val="tx1"/>
                </a:solidFill>
                <a:latin typeface="Arial Black" panose="020B0A04020102020204" pitchFamily="34" charset="0"/>
              </a:rPr>
              <a:t>автор: Кожевникова А.В.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C12B44-61D2-49A1-89AC-5A51E2B7C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755" y="0"/>
            <a:ext cx="1142245" cy="669925"/>
          </a:xfrm>
        </p:spPr>
        <p:txBody>
          <a:bodyPr/>
          <a:lstStyle/>
          <a:p>
            <a:fld id="{F63B249B-23D7-433A-BA27-E2EB8880D99B}" type="slidenum">
              <a:rPr lang="ru-RU" smtClean="0">
                <a:solidFill>
                  <a:schemeClr val="tx1"/>
                </a:solidFill>
                <a:latin typeface="Arial Black" panose="020B0A04020102020204" pitchFamily="34" charset="0"/>
              </a:rPr>
              <a:t>8</a:t>
            </a:fld>
            <a:endParaRPr lang="ru-RU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Заголовок 3">
            <a:extLst>
              <a:ext uri="{FF2B5EF4-FFF2-40B4-BE49-F238E27FC236}">
                <a16:creationId xmlns:a16="http://schemas.microsoft.com/office/drawing/2014/main" id="{36B73222-7F95-4B3A-9CF9-E36D34E131A0}"/>
              </a:ext>
            </a:extLst>
          </p:cNvPr>
          <p:cNvSpPr txBox="1">
            <a:spLocks/>
          </p:cNvSpPr>
          <p:nvPr/>
        </p:nvSpPr>
        <p:spPr>
          <a:xfrm>
            <a:off x="274320" y="306719"/>
            <a:ext cx="11643360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NPS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b="1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340661"/>
            <a:ext cx="10058400" cy="2240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043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92D8416F-B176-4251-9FED-B00DB9584E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91800" y="6486312"/>
            <a:ext cx="1600200" cy="365125"/>
          </a:xfrm>
        </p:spPr>
        <p:txBody>
          <a:bodyPr/>
          <a:lstStyle/>
          <a:p>
            <a:r>
              <a:rPr lang="ru-RU" sz="14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21.092024 </a:t>
            </a:r>
            <a:r>
              <a:rPr lang="ru-RU" sz="1400" dirty="0">
                <a:solidFill>
                  <a:schemeClr val="tx1"/>
                </a:solidFill>
                <a:latin typeface="Arial Black" panose="020B0A04020102020204" pitchFamily="34" charset="0"/>
              </a:rPr>
              <a:t>г.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07C8F1-43FD-4CBE-A806-9C3F4E9F4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543800" cy="365125"/>
          </a:xfrm>
        </p:spPr>
        <p:txBody>
          <a:bodyPr/>
          <a:lstStyle/>
          <a:p>
            <a:r>
              <a:rPr lang="ru-RU" sz="1400" dirty="0">
                <a:solidFill>
                  <a:schemeClr val="tx1"/>
                </a:solidFill>
                <a:latin typeface="Arial Black" panose="020B0A04020102020204" pitchFamily="34" charset="0"/>
              </a:rPr>
              <a:t>автор: Кожевникова А.В.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319AB3-2E25-4A77-9D25-57C80886E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5659" y="0"/>
            <a:ext cx="1142245" cy="669925"/>
          </a:xfrm>
        </p:spPr>
        <p:txBody>
          <a:bodyPr/>
          <a:lstStyle/>
          <a:p>
            <a:fld id="{F63B249B-23D7-433A-BA27-E2EB8880D99B}" type="slidenum">
              <a:rPr lang="ru-RU" smtClean="0">
                <a:solidFill>
                  <a:schemeClr val="tx1"/>
                </a:solidFill>
                <a:latin typeface="Arial Black" panose="020B0A04020102020204" pitchFamily="34" charset="0"/>
              </a:rPr>
              <a:t>9</a:t>
            </a:fld>
            <a:endParaRPr lang="ru-RU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Заголовок 3">
            <a:extLst>
              <a:ext uri="{FF2B5EF4-FFF2-40B4-BE49-F238E27FC236}">
                <a16:creationId xmlns:a16="http://schemas.microsoft.com/office/drawing/2014/main" id="{36B73222-7F95-4B3A-9CF9-E36D34E131A0}"/>
              </a:ext>
            </a:extLst>
          </p:cNvPr>
          <p:cNvSpPr txBox="1">
            <a:spLocks/>
          </p:cNvSpPr>
          <p:nvPr/>
        </p:nvSpPr>
        <p:spPr>
          <a:xfrm>
            <a:off x="274320" y="306719"/>
            <a:ext cx="11643360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Сторонники</a:t>
            </a:r>
            <a:endParaRPr lang="ru-RU" b="1" dirty="0"/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C70C4A8A-2950-4D0A-B454-FD00FACE4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90946" y="1622478"/>
            <a:ext cx="5226734" cy="1303760"/>
          </a:xfrm>
        </p:spPr>
        <p:txBody>
          <a:bodyPr>
            <a:noAutofit/>
          </a:bodyPr>
          <a:lstStyle/>
          <a:p>
            <a:pPr marL="457200" indent="-4572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Большинство сторонников находятся в возрасте от 35 до 54 лет.</a:t>
            </a:r>
          </a:p>
          <a:p>
            <a:pPr marL="457200" indent="-4572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ru-RU" sz="24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Давно пользуются продуктом («старички»).</a:t>
            </a:r>
          </a:p>
          <a:p>
            <a:pPr marL="457200" indent="-4572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ru-RU" sz="24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24375" t="15468" r="54792" b="41569"/>
          <a:stretch/>
        </p:blipFill>
        <p:spPr>
          <a:xfrm>
            <a:off x="274320" y="1449719"/>
            <a:ext cx="3074686" cy="356663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45764" t="50000" r="33542" b="41296"/>
          <a:stretch/>
        </p:blipFill>
        <p:spPr>
          <a:xfrm>
            <a:off x="4203700" y="1449719"/>
            <a:ext cx="3784600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888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15910" y="4301066"/>
            <a:ext cx="11166230" cy="2091267"/>
          </a:xfrm>
        </p:spPr>
        <p:txBody>
          <a:bodyPr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Около </a:t>
            </a:r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35% пользователей живут в городах: Москва, </a:t>
            </a:r>
            <a:r>
              <a:rPr lang="ru-RU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</a:t>
            </a:r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Новосибирск, Казань и Екатеринбург.</a:t>
            </a:r>
            <a:endParaRPr lang="ru-R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10591800" y="6479930"/>
            <a:ext cx="1600200" cy="365125"/>
          </a:xfrm>
        </p:spPr>
        <p:txBody>
          <a:bodyPr/>
          <a:lstStyle/>
          <a:p>
            <a:r>
              <a:rPr lang="ru-RU" sz="1400" dirty="0">
                <a:solidFill>
                  <a:schemeClr val="tx1"/>
                </a:solidFill>
                <a:latin typeface="Arial Black" panose="020B0A04020102020204" pitchFamily="34" charset="0"/>
              </a:rPr>
              <a:t>21.092024 г.</a:t>
            </a:r>
            <a:endParaRPr lang="ru-RU" sz="1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0" y="6479931"/>
            <a:ext cx="7543800" cy="365125"/>
          </a:xfrm>
        </p:spPr>
        <p:txBody>
          <a:bodyPr/>
          <a:lstStyle/>
          <a:p>
            <a:r>
              <a:rPr lang="ru-RU" sz="1400" dirty="0">
                <a:solidFill>
                  <a:schemeClr val="tx1"/>
                </a:solidFill>
                <a:latin typeface="Arial Black" panose="020B0A04020102020204" pitchFamily="34" charset="0"/>
              </a:rPr>
              <a:t>автор: Кожевникова А.В.</a:t>
            </a:r>
            <a:endParaRPr lang="ru-RU" sz="14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1049755" y="15875"/>
            <a:ext cx="1142245" cy="669925"/>
          </a:xfrm>
        </p:spPr>
        <p:txBody>
          <a:bodyPr/>
          <a:lstStyle/>
          <a:p>
            <a:fld id="{F63B249B-23D7-433A-BA27-E2EB8880D99B}" type="slidenum">
              <a:rPr lang="ru-RU" smtClean="0">
                <a:solidFill>
                  <a:schemeClr val="tx1"/>
                </a:solidFill>
                <a:latin typeface="Arial Black" panose="020B0A04020102020204" pitchFamily="34" charset="0"/>
              </a:rPr>
              <a:t>10</a:t>
            </a:fld>
            <a:endParaRPr lang="ru-RU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Заголовок 3">
            <a:extLst>
              <a:ext uri="{FF2B5EF4-FFF2-40B4-BE49-F238E27FC236}">
                <a16:creationId xmlns:a16="http://schemas.microsoft.com/office/drawing/2014/main" id="{36B73222-7F95-4B3A-9CF9-E36D34E131A0}"/>
              </a:ext>
            </a:extLst>
          </p:cNvPr>
          <p:cNvSpPr txBox="1">
            <a:spLocks/>
          </p:cNvSpPr>
          <p:nvPr/>
        </p:nvSpPr>
        <p:spPr>
          <a:xfrm>
            <a:off x="274320" y="306719"/>
            <a:ext cx="11643360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Сторонники</a:t>
            </a:r>
            <a:endParaRPr lang="ru-RU" b="1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/>
          <a:srcRect l="3611" t="58889" r="33264" b="12593"/>
          <a:stretch/>
        </p:blipFill>
        <p:spPr>
          <a:xfrm>
            <a:off x="849807" y="1537316"/>
            <a:ext cx="10492386" cy="266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088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707997D-D0C2-48A8-9800-14152E240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1621366"/>
            <a:ext cx="8534400" cy="3615267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контакты для обратной связи:</a:t>
            </a:r>
          </a:p>
          <a:p>
            <a:pPr marL="0" indent="0" algn="ctr">
              <a:buNone/>
            </a:pPr>
            <a:r>
              <a:rPr lang="ru-RU" sz="32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тел. раб.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8-495-123-4560</a:t>
            </a:r>
          </a:p>
          <a:p>
            <a:pPr marL="0" indent="0" algn="ctr">
              <a:buNone/>
            </a:pPr>
            <a:r>
              <a:rPr lang="ru-RU" sz="32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тел. личный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8-931-829-3399</a:t>
            </a:r>
          </a:p>
          <a:p>
            <a:endParaRPr lang="ru-RU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32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почта раб.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irma_cool@Yandex.com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32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почта личная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Kozhevnikova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78@mail.ru</a:t>
            </a:r>
            <a:endParaRPr lang="ru-RU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3D7431-8E12-4380-B74A-A908B95223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91800" y="6483095"/>
            <a:ext cx="1600200" cy="365125"/>
          </a:xfrm>
        </p:spPr>
        <p:txBody>
          <a:bodyPr/>
          <a:lstStyle/>
          <a:p>
            <a:r>
              <a:rPr lang="ru-RU" sz="1400" smtClean="0">
                <a:solidFill>
                  <a:schemeClr val="tx1"/>
                </a:solidFill>
                <a:latin typeface="Arial Black" panose="020B0A04020102020204" pitchFamily="34" charset="0"/>
              </a:rPr>
              <a:t>21.09.2024 </a:t>
            </a:r>
            <a:r>
              <a:rPr lang="ru-RU" sz="1400" dirty="0">
                <a:solidFill>
                  <a:schemeClr val="tx1"/>
                </a:solidFill>
                <a:latin typeface="Arial Black" panose="020B0A04020102020204" pitchFamily="34" charset="0"/>
              </a:rPr>
              <a:t>г.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E17417-E66E-4614-B943-4FAC6395C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" y="6483096"/>
            <a:ext cx="7543800" cy="365125"/>
          </a:xfrm>
        </p:spPr>
        <p:txBody>
          <a:bodyPr/>
          <a:lstStyle/>
          <a:p>
            <a:r>
              <a:rPr lang="ru-RU" sz="1400" dirty="0">
                <a:solidFill>
                  <a:schemeClr val="tx1"/>
                </a:solidFill>
                <a:latin typeface="Arial Black" panose="020B0A04020102020204" pitchFamily="34" charset="0"/>
              </a:rPr>
              <a:t>автор: Кожевникова А.В.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B3EF17-9E48-43D1-9C3A-A1D2E0A5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755" y="0"/>
            <a:ext cx="1142245" cy="669925"/>
          </a:xfrm>
        </p:spPr>
        <p:txBody>
          <a:bodyPr/>
          <a:lstStyle/>
          <a:p>
            <a:fld id="{F63B249B-23D7-433A-BA27-E2EB8880D99B}" type="slidenum">
              <a:rPr lang="ru-RU" smtClean="0">
                <a:solidFill>
                  <a:schemeClr val="tx1"/>
                </a:solidFill>
                <a:latin typeface="Arial Black" panose="020B0A04020102020204" pitchFamily="34" charset="0"/>
              </a:rPr>
              <a:t>11</a:t>
            </a:fld>
            <a:endParaRPr lang="ru-RU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467222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245</TotalTime>
  <Words>461</Words>
  <Application>Microsoft Office PowerPoint</Application>
  <PresentationFormat>Широкоэкранный</PresentationFormat>
  <Paragraphs>69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Arial Black</vt:lpstr>
      <vt:lpstr>Calibri</vt:lpstr>
      <vt:lpstr>Century Gothic</vt:lpstr>
      <vt:lpstr>Times New Roman</vt:lpstr>
      <vt:lpstr>Wingdings 3</vt:lpstr>
      <vt:lpstr>Сектор</vt:lpstr>
      <vt:lpstr>Определение уровня потребительской лояльности, среди клиентов </vt:lpstr>
      <vt:lpstr>Краткое описание:</vt:lpstr>
      <vt:lpstr>Цель и задача исследования:</vt:lpstr>
      <vt:lpstr>Аудитория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Исследование рынка заведений общественного питания г. Москвы</dc:title>
  <dc:creator>Влад Кожевников</dc:creator>
  <cp:lastModifiedBy>Alexandra</cp:lastModifiedBy>
  <cp:revision>28</cp:revision>
  <dcterms:created xsi:type="dcterms:W3CDTF">2024-08-20T10:57:38Z</dcterms:created>
  <dcterms:modified xsi:type="dcterms:W3CDTF">2024-09-23T20:51:46Z</dcterms:modified>
</cp:coreProperties>
</file>